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72" r:id="rId9"/>
    <p:sldId id="262" r:id="rId10"/>
    <p:sldId id="270" r:id="rId11"/>
    <p:sldId id="263" r:id="rId12"/>
    <p:sldId id="264" r:id="rId13"/>
    <p:sldId id="266" r:id="rId14"/>
    <p:sldId id="265" r:id="rId15"/>
    <p:sldId id="267" r:id="rId16"/>
    <p:sldId id="271" r:id="rId17"/>
    <p:sldId id="268" r:id="rId18"/>
  </p:sldIdLst>
  <p:sldSz cx="18288000" cy="10287000"/>
  <p:notesSz cx="6858000" cy="9144000"/>
  <p:embeddedFontLst>
    <p:embeddedFont>
      <p:font typeface="TT Interphases" panose="020B0604020202020204" charset="0"/>
      <p:regular r:id="rId20"/>
    </p:embeddedFont>
    <p:embeddedFont>
      <p:font typeface="TT Interphases Bold" panose="020B0604020202020204" charset="0"/>
      <p:regular r:id="rId21"/>
    </p:embeddedFont>
    <p:embeddedFont>
      <p:font typeface="TT Interphases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4" d="100"/>
          <a:sy n="44" d="100"/>
        </p:scale>
        <p:origin x="18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99882-C2D1-4B22-8411-5609FAB77D3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E52F-69CA-45DD-901A-3544F1400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2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E52F-69CA-45DD-901A-3544F14004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26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8D2D-249B-FC45-4BEF-81598208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41981-EE94-DABC-272F-D6E12D4E5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CE3F5-A3B1-7254-200B-1EF1853F0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11743-B7AF-1BD5-178D-7E22EC28A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E52F-69CA-45DD-901A-3544F14004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3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svg"/><Relationship Id="rId7" Type="http://schemas.openxmlformats.org/officeDocument/2006/relationships/image" Target="../media/image15.svg"/><Relationship Id="rId12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6.png"/><Relationship Id="rId5" Type="http://schemas.openxmlformats.org/officeDocument/2006/relationships/image" Target="../media/image2.svg"/><Relationship Id="rId10" Type="http://schemas.openxmlformats.org/officeDocument/2006/relationships/image" Target="../media/image11.sv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9.sv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9.sv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7.sv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7.svg"/><Relationship Id="rId4" Type="http://schemas.openxmlformats.org/officeDocument/2006/relationships/image" Target="../media/image7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svg"/><Relationship Id="rId7" Type="http://schemas.openxmlformats.org/officeDocument/2006/relationships/image" Target="../media/image3.png"/><Relationship Id="rId12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6.png"/><Relationship Id="rId5" Type="http://schemas.openxmlformats.org/officeDocument/2006/relationships/image" Target="../media/image2.svg"/><Relationship Id="rId10" Type="http://schemas.openxmlformats.org/officeDocument/2006/relationships/image" Target="../media/image21.jpeg"/><Relationship Id="rId4" Type="http://schemas.openxmlformats.org/officeDocument/2006/relationships/image" Target="../media/image1.png"/><Relationship Id="rId9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22.jpe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26617">
            <a:off x="3395976" y="3190853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85580" y="587451"/>
            <a:ext cx="9122342" cy="9105756"/>
          </a:xfrm>
          <a:custGeom>
            <a:avLst/>
            <a:gdLst/>
            <a:ahLst/>
            <a:cxnLst/>
            <a:rect l="l" t="t" r="r" b="b"/>
            <a:pathLst>
              <a:path w="9122342" h="9105756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157946">
            <a:off x="10971715" y="1704128"/>
            <a:ext cx="7674174" cy="2885362"/>
          </a:xfrm>
          <a:custGeom>
            <a:avLst/>
            <a:gdLst/>
            <a:ahLst/>
            <a:cxnLst/>
            <a:rect l="l" t="t" r="r" b="b"/>
            <a:pathLst>
              <a:path w="7674174" h="2885362">
                <a:moveTo>
                  <a:pt x="0" y="0"/>
                </a:moveTo>
                <a:lnTo>
                  <a:pt x="7674174" y="0"/>
                </a:lnTo>
                <a:lnTo>
                  <a:pt x="7674174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2984"/>
            </a:stretch>
          </a:blipFill>
        </p:spPr>
      </p:sp>
      <p:sp>
        <p:nvSpPr>
          <p:cNvPr id="5" name="Freeform 5"/>
          <p:cNvSpPr/>
          <p:nvPr/>
        </p:nvSpPr>
        <p:spPr>
          <a:xfrm rot="2157946" flipV="1">
            <a:off x="8438712" y="4719029"/>
            <a:ext cx="7674174" cy="3837087"/>
          </a:xfrm>
          <a:custGeom>
            <a:avLst/>
            <a:gdLst/>
            <a:ahLst/>
            <a:cxnLst/>
            <a:rect l="l" t="t" r="r" b="b"/>
            <a:pathLst>
              <a:path w="7674174" h="3837087">
                <a:moveTo>
                  <a:pt x="0" y="3837087"/>
                </a:moveTo>
                <a:lnTo>
                  <a:pt x="7674174" y="3837087"/>
                </a:lnTo>
                <a:lnTo>
                  <a:pt x="7674174" y="0"/>
                </a:lnTo>
                <a:lnTo>
                  <a:pt x="0" y="0"/>
                </a:lnTo>
                <a:lnTo>
                  <a:pt x="0" y="38370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75622" y="1713388"/>
            <a:ext cx="6853883" cy="68538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76794" y="1914560"/>
            <a:ext cx="6451538" cy="645153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t="-25000" b="-25000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flipH="1">
            <a:off x="16818832" y="0"/>
            <a:ext cx="2071591" cy="4205152"/>
          </a:xfrm>
          <a:custGeom>
            <a:avLst/>
            <a:gdLst/>
            <a:ahLst/>
            <a:cxnLst/>
            <a:rect l="l" t="t" r="r" b="b"/>
            <a:pathLst>
              <a:path w="2071591" h="4205152">
                <a:moveTo>
                  <a:pt x="2071591" y="0"/>
                </a:moveTo>
                <a:lnTo>
                  <a:pt x="0" y="0"/>
                </a:lnTo>
                <a:lnTo>
                  <a:pt x="0" y="4205152"/>
                </a:lnTo>
                <a:lnTo>
                  <a:pt x="2071591" y="4205152"/>
                </a:lnTo>
                <a:lnTo>
                  <a:pt x="207159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481992" y="-3498726"/>
            <a:ext cx="4793807" cy="4802539"/>
          </a:xfrm>
          <a:custGeom>
            <a:avLst/>
            <a:gdLst/>
            <a:ahLst/>
            <a:cxnLst/>
            <a:rect l="l" t="t" r="r" b="b"/>
            <a:pathLst>
              <a:path w="4793807" h="4802539">
                <a:moveTo>
                  <a:pt x="0" y="0"/>
                </a:moveTo>
                <a:lnTo>
                  <a:pt x="4793807" y="0"/>
                </a:lnTo>
                <a:lnTo>
                  <a:pt x="4793807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08917" y="8366098"/>
            <a:ext cx="4940090" cy="4949088"/>
          </a:xfrm>
          <a:custGeom>
            <a:avLst/>
            <a:gdLst/>
            <a:ahLst/>
            <a:cxnLst/>
            <a:rect l="l" t="t" r="r" b="b"/>
            <a:pathLst>
              <a:path w="4940090" h="4949088">
                <a:moveTo>
                  <a:pt x="0" y="0"/>
                </a:moveTo>
                <a:lnTo>
                  <a:pt x="4940090" y="0"/>
                </a:lnTo>
                <a:lnTo>
                  <a:pt x="4940090" y="4949088"/>
                </a:lnTo>
                <a:lnTo>
                  <a:pt x="0" y="4949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422285" y="584912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1" y="0"/>
                </a:lnTo>
                <a:lnTo>
                  <a:pt x="1647551" y="200701"/>
                </a:lnTo>
                <a:lnTo>
                  <a:pt x="0" y="20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79841" y="389630"/>
            <a:ext cx="781082" cy="781082"/>
          </a:xfrm>
          <a:custGeom>
            <a:avLst/>
            <a:gdLst/>
            <a:ahLst/>
            <a:cxnLst/>
            <a:rect l="l" t="t" r="r" b="b"/>
            <a:pathLst>
              <a:path w="781082" h="781082">
                <a:moveTo>
                  <a:pt x="0" y="0"/>
                </a:moveTo>
                <a:lnTo>
                  <a:pt x="781082" y="0"/>
                </a:lnTo>
                <a:lnTo>
                  <a:pt x="781082" y="781082"/>
                </a:lnTo>
                <a:lnTo>
                  <a:pt x="0" y="7810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706161" y="4916650"/>
            <a:ext cx="8449717" cy="5002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 dirty="0">
                <a:solidFill>
                  <a:srgbClr val="A94BC6"/>
                </a:solidFill>
                <a:latin typeface="TT Interphases Bold"/>
                <a:sym typeface="TT Interphases Italics"/>
              </a:rPr>
              <a:t>Course:</a:t>
            </a:r>
            <a:r>
              <a:rPr lang="en-US" sz="1100" i="1" spc="17" dirty="0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</a:t>
            </a:r>
            <a:r>
              <a:rPr lang="en-US" sz="2800" i="1" spc="17" dirty="0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Machine Learning – Semester 472</a:t>
            </a:r>
          </a:p>
          <a:p>
            <a:pPr algn="l">
              <a:lnSpc>
                <a:spcPct val="150000"/>
              </a:lnSpc>
            </a:pPr>
            <a:r>
              <a:rPr lang="en-US" sz="3600" b="1" dirty="0">
                <a:solidFill>
                  <a:srgbClr val="A94BC6"/>
                </a:solidFill>
                <a:latin typeface="TT Interphases Bold"/>
                <a:sym typeface="TT Interphases Italics"/>
              </a:rPr>
              <a:t>Lecturer: </a:t>
            </a:r>
            <a:r>
              <a:rPr lang="en-US" sz="2800" i="1" spc="17" dirty="0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Dr. Rayed </a:t>
            </a:r>
            <a:r>
              <a:rPr lang="en-US" sz="2800" i="1" spc="17" dirty="0" err="1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Ghazawi</a:t>
            </a:r>
            <a:endParaRPr lang="en-US" sz="2800" i="1" spc="17" dirty="0">
              <a:solidFill>
                <a:srgbClr val="FFFFFF"/>
              </a:solidFill>
              <a:latin typeface="TT Interphases Italics"/>
              <a:ea typeface="TT Interphases Italics"/>
              <a:cs typeface="TT Interphases Italics"/>
              <a:sym typeface="TT Interphases Italics"/>
            </a:endParaRPr>
          </a:p>
          <a:p>
            <a:pPr algn="l">
              <a:lnSpc>
                <a:spcPct val="150000"/>
              </a:lnSpc>
            </a:pPr>
            <a:r>
              <a:rPr lang="en-US" sz="3600" b="1" dirty="0">
                <a:solidFill>
                  <a:srgbClr val="A94BC6"/>
                </a:solidFill>
                <a:latin typeface="TT Interphases Bold"/>
                <a:sym typeface="TT Interphases Italics"/>
              </a:rPr>
              <a:t>Authors: </a:t>
            </a:r>
          </a:p>
          <a:p>
            <a:pPr algn="l">
              <a:lnSpc>
                <a:spcPct val="150000"/>
              </a:lnSpc>
            </a:pPr>
            <a:r>
              <a:rPr lang="en-US" sz="2800" i="1" spc="17" dirty="0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Faris Ghazi Al-Ahmadi</a:t>
            </a:r>
          </a:p>
          <a:p>
            <a:pPr algn="l">
              <a:lnSpc>
                <a:spcPct val="150000"/>
              </a:lnSpc>
            </a:pPr>
            <a:r>
              <a:rPr lang="en-US" sz="2800" i="1" spc="17" dirty="0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Abdulrahman Ghazi Al-Qurashi</a:t>
            </a:r>
          </a:p>
          <a:p>
            <a:pPr algn="l">
              <a:lnSpc>
                <a:spcPct val="150000"/>
              </a:lnSpc>
            </a:pPr>
            <a:r>
              <a:rPr lang="en-US" sz="2800" i="1" spc="17" dirty="0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Osama Al-Zahrani</a:t>
            </a:r>
          </a:p>
          <a:p>
            <a:pPr algn="l">
              <a:lnSpc>
                <a:spcPct val="150000"/>
              </a:lnSpc>
            </a:pPr>
            <a:r>
              <a:rPr lang="en-US" sz="2800" i="1" spc="17" dirty="0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Issa Al-Fahmi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446" y="1837264"/>
            <a:ext cx="8464760" cy="1279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047"/>
              </a:lnSpc>
            </a:pPr>
            <a:r>
              <a:rPr lang="en-US" sz="72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Machine Learning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3885" y="2868037"/>
            <a:ext cx="8265321" cy="13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47"/>
              </a:lnSpc>
            </a:pPr>
            <a:r>
              <a:rPr lang="en-US" sz="7200" b="1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883" y="-6279084"/>
            <a:ext cx="8862696" cy="8878839"/>
          </a:xfrm>
          <a:custGeom>
            <a:avLst/>
            <a:gdLst/>
            <a:ahLst/>
            <a:cxnLst/>
            <a:rect l="l" t="t" r="r" b="b"/>
            <a:pathLst>
              <a:path w="8862696" h="8878839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981365">
            <a:off x="3811636" y="3648079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-887075" y="1238299"/>
            <a:ext cx="7621741" cy="7958376"/>
          </a:xfrm>
          <a:custGeom>
            <a:avLst/>
            <a:gdLst/>
            <a:ahLst/>
            <a:cxnLst/>
            <a:rect l="l" t="t" r="r" b="b"/>
            <a:pathLst>
              <a:path w="7621741" h="7958376">
                <a:moveTo>
                  <a:pt x="0" y="0"/>
                </a:moveTo>
                <a:lnTo>
                  <a:pt x="7621741" y="0"/>
                </a:lnTo>
                <a:lnTo>
                  <a:pt x="7621741" y="7958376"/>
                </a:lnTo>
                <a:lnTo>
                  <a:pt x="0" y="7958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7187372" y="6347008"/>
            <a:ext cx="1519526" cy="3084508"/>
          </a:xfrm>
          <a:custGeom>
            <a:avLst/>
            <a:gdLst/>
            <a:ahLst/>
            <a:cxnLst/>
            <a:rect l="l" t="t" r="r" b="b"/>
            <a:pathLst>
              <a:path w="1519526" h="3084508">
                <a:moveTo>
                  <a:pt x="1519526" y="3084508"/>
                </a:moveTo>
                <a:lnTo>
                  <a:pt x="0" y="3084508"/>
                </a:lnTo>
                <a:lnTo>
                  <a:pt x="0" y="0"/>
                </a:lnTo>
                <a:lnTo>
                  <a:pt x="1519526" y="0"/>
                </a:lnTo>
                <a:lnTo>
                  <a:pt x="1519526" y="3084508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 flipH="1">
            <a:off x="7345876" y="8820306"/>
            <a:ext cx="1186914" cy="2409334"/>
          </a:xfrm>
          <a:custGeom>
            <a:avLst/>
            <a:gdLst/>
            <a:ahLst/>
            <a:cxnLst/>
            <a:rect l="l" t="t" r="r" b="b"/>
            <a:pathLst>
              <a:path w="1186914" h="2409334">
                <a:moveTo>
                  <a:pt x="1186914" y="0"/>
                </a:moveTo>
                <a:lnTo>
                  <a:pt x="0" y="0"/>
                </a:lnTo>
                <a:lnTo>
                  <a:pt x="0" y="2409334"/>
                </a:lnTo>
                <a:lnTo>
                  <a:pt x="1186914" y="2409334"/>
                </a:lnTo>
                <a:lnTo>
                  <a:pt x="1186914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939333" y="712011"/>
            <a:ext cx="9700858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7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Problem Definition &amp; 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01131" y="3835124"/>
            <a:ext cx="9946004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9"/>
              </a:lnSpc>
            </a:pPr>
            <a:r>
              <a:rPr lang="en-US" sz="24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Customer churn is a major telecom issue. Acquiring new customers costs 5–7x more than retaining existing ones.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41378" y="2774322"/>
            <a:ext cx="9182455" cy="82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54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Problem: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280194" y="9637142"/>
            <a:ext cx="4726694" cy="490540"/>
            <a:chOff x="0" y="0"/>
            <a:chExt cx="3915949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10891" y="827093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647151" y="899054"/>
            <a:ext cx="666145" cy="660506"/>
          </a:xfrm>
          <a:custGeom>
            <a:avLst/>
            <a:gdLst/>
            <a:ahLst/>
            <a:cxnLst/>
            <a:rect l="l" t="t" r="r" b="b"/>
            <a:pathLst>
              <a:path w="666145" h="660506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06388" r="-103152"/>
            </a:stretch>
          </a:blipFill>
        </p:spPr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169CA5F6-3E9C-B7DA-E2CB-B45CBF6414B3}"/>
              </a:ext>
            </a:extLst>
          </p:cNvPr>
          <p:cNvSpPr txBox="1"/>
          <p:nvPr/>
        </p:nvSpPr>
        <p:spPr>
          <a:xfrm>
            <a:off x="8192684" y="6172717"/>
            <a:ext cx="99460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24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Predict customers likely to churn</a:t>
            </a:r>
          </a:p>
          <a:p>
            <a:pPr marL="342900" indent="-342900">
              <a:lnSpc>
                <a:spcPts val="3249"/>
              </a:lnSpc>
              <a:buFont typeface="Arial" panose="020B0604020202020204" pitchFamily="34" charset="0"/>
              <a:buChar char="•"/>
            </a:pPr>
            <a:endParaRPr lang="en-US" sz="2499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342900" indent="-342900">
              <a:lnSpc>
                <a:spcPts val="324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Identify key churn drivers</a:t>
            </a:r>
          </a:p>
          <a:p>
            <a:pPr marL="342900" indent="-342900">
              <a:lnSpc>
                <a:spcPts val="3249"/>
              </a:lnSpc>
              <a:buFont typeface="Arial" panose="020B0604020202020204" pitchFamily="34" charset="0"/>
              <a:buChar char="•"/>
            </a:pPr>
            <a:endParaRPr lang="en-US" sz="2499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342900" indent="-342900">
              <a:lnSpc>
                <a:spcPts val="324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Build &amp; compare ML models</a:t>
            </a:r>
          </a:p>
          <a:p>
            <a:pPr marL="342900" indent="-342900">
              <a:lnSpc>
                <a:spcPts val="3249"/>
              </a:lnSpc>
              <a:buFont typeface="Arial" panose="020B0604020202020204" pitchFamily="34" charset="0"/>
              <a:buChar char="•"/>
            </a:pPr>
            <a:endParaRPr lang="en-US" sz="2499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342900" indent="-342900">
              <a:lnSpc>
                <a:spcPts val="3249"/>
              </a:lnSpc>
              <a:buFont typeface="Arial" panose="020B0604020202020204" pitchFamily="34" charset="0"/>
              <a:buChar char="•"/>
            </a:pPr>
            <a:r>
              <a:rPr lang="en-US" sz="24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Provide actionable business insights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52F4C393-FBEC-AFD9-CA69-70527A6E6F09}"/>
              </a:ext>
            </a:extLst>
          </p:cNvPr>
          <p:cNvSpPr txBox="1"/>
          <p:nvPr/>
        </p:nvSpPr>
        <p:spPr>
          <a:xfrm>
            <a:off x="8001131" y="5174973"/>
            <a:ext cx="9182455" cy="82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54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Objective: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607619" flipH="1">
            <a:off x="-7164311" y="3480094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1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1" y="6754287"/>
                </a:lnTo>
                <a:lnTo>
                  <a:pt x="20299771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610000">
            <a:off x="5155679" y="3480094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396904" y="8737833"/>
            <a:ext cx="4793807" cy="4802539"/>
          </a:xfrm>
          <a:custGeom>
            <a:avLst/>
            <a:gdLst/>
            <a:ahLst/>
            <a:cxnLst/>
            <a:rect l="l" t="t" r="r" b="b"/>
            <a:pathLst>
              <a:path w="4793807" h="4802539">
                <a:moveTo>
                  <a:pt x="4793808" y="0"/>
                </a:moveTo>
                <a:lnTo>
                  <a:pt x="0" y="0"/>
                </a:lnTo>
                <a:lnTo>
                  <a:pt x="0" y="4802539"/>
                </a:lnTo>
                <a:lnTo>
                  <a:pt x="4793808" y="4802539"/>
                </a:lnTo>
                <a:lnTo>
                  <a:pt x="47938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891096" y="8737833"/>
            <a:ext cx="4793807" cy="4802539"/>
          </a:xfrm>
          <a:custGeom>
            <a:avLst/>
            <a:gdLst/>
            <a:ahLst/>
            <a:cxnLst/>
            <a:rect l="l" t="t" r="r" b="b"/>
            <a:pathLst>
              <a:path w="4793807" h="4802539">
                <a:moveTo>
                  <a:pt x="0" y="0"/>
                </a:moveTo>
                <a:lnTo>
                  <a:pt x="4793808" y="0"/>
                </a:lnTo>
                <a:lnTo>
                  <a:pt x="4793808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7055059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46921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960424" y="953882"/>
            <a:ext cx="862442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7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Dataset Overview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4216" y="3326500"/>
            <a:ext cx="14204384" cy="801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44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Source: </a:t>
            </a:r>
            <a:r>
              <a:rPr lang="en-US" sz="3600" b="1" dirty="0">
                <a:solidFill>
                  <a:schemeClr val="bg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Kaggle – Telco Customer Churn Dataset</a:t>
            </a:r>
            <a:endParaRPr lang="en-US" sz="4400" b="1" dirty="0">
              <a:solidFill>
                <a:schemeClr val="bg1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4754171" y="119277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886279" y="119277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36DF8D7D-1016-2A08-EF47-6501084BE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485573"/>
              </p:ext>
            </p:extLst>
          </p:nvPr>
        </p:nvGraphicFramePr>
        <p:xfrm>
          <a:off x="2710054" y="4710943"/>
          <a:ext cx="12192000" cy="2895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7283551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61100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899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7,043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195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392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Churn (Yes/No)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66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Churn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26.54%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692965"/>
                  </a:ext>
                </a:extLst>
              </a:tr>
            </a:tbl>
          </a:graphicData>
        </a:graphic>
      </p:graphicFrame>
      <p:sp>
        <p:nvSpPr>
          <p:cNvPr id="44" name="TextBox 20">
            <a:extLst>
              <a:ext uri="{FF2B5EF4-FFF2-40B4-BE49-F238E27FC236}">
                <a16:creationId xmlns:a16="http://schemas.microsoft.com/office/drawing/2014/main" id="{FE9C6D4E-89B8-234F-A603-01B1993B2F12}"/>
              </a:ext>
            </a:extLst>
          </p:cNvPr>
          <p:cNvSpPr txBox="1"/>
          <p:nvPr/>
        </p:nvSpPr>
        <p:spPr>
          <a:xfrm>
            <a:off x="2627339" y="8275800"/>
            <a:ext cx="14204384" cy="1636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44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Features include: </a:t>
            </a:r>
            <a:r>
              <a:rPr lang="en-US" sz="3600" b="1" dirty="0">
                <a:solidFill>
                  <a:schemeClr val="bg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Demographics, Account info (tenure, contract, charges), Services used</a:t>
            </a:r>
            <a:endParaRPr lang="en-US" sz="4400" b="1" dirty="0">
              <a:solidFill>
                <a:schemeClr val="bg1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4591" flipH="1">
            <a:off x="-4148183" y="5002073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975364">
            <a:off x="9101346" y="-6203143"/>
            <a:ext cx="8862696" cy="8878839"/>
          </a:xfrm>
          <a:custGeom>
            <a:avLst/>
            <a:gdLst/>
            <a:ahLst/>
            <a:cxnLst/>
            <a:rect l="l" t="t" r="r" b="b"/>
            <a:pathLst>
              <a:path w="8862696" h="8878839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630184" y="1559560"/>
            <a:ext cx="5750433" cy="8084119"/>
          </a:xfrm>
          <a:custGeom>
            <a:avLst/>
            <a:gdLst/>
            <a:ahLst/>
            <a:cxnLst/>
            <a:rect l="l" t="t" r="r" b="b"/>
            <a:pathLst>
              <a:path w="5750433" h="8084119">
                <a:moveTo>
                  <a:pt x="5750433" y="0"/>
                </a:moveTo>
                <a:lnTo>
                  <a:pt x="0" y="0"/>
                </a:lnTo>
                <a:lnTo>
                  <a:pt x="0" y="8084120"/>
                </a:lnTo>
                <a:lnTo>
                  <a:pt x="5750433" y="8084120"/>
                </a:lnTo>
                <a:lnTo>
                  <a:pt x="5750433" y="0"/>
                </a:lnTo>
                <a:close/>
              </a:path>
            </a:pathLst>
          </a:custGeom>
          <a:blipFill>
            <a:blip r:embed="rId6"/>
            <a:stretch>
              <a:fillRect b="-1799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45500" y="1017779"/>
            <a:ext cx="8356012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7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Methodology Workflow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500" y="3107564"/>
            <a:ext cx="11159606" cy="2129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Gathering → Data Cleaning → EDA → Preprocessing → Train/Test Split → Model Training → Evaluation → Insights</a:t>
            </a:r>
          </a:p>
        </p:txBody>
      </p:sp>
      <p:sp>
        <p:nvSpPr>
          <p:cNvPr id="33" name="Freeform 33"/>
          <p:cNvSpPr/>
          <p:nvPr/>
        </p:nvSpPr>
        <p:spPr>
          <a:xfrm>
            <a:off x="-431506" y="292352"/>
            <a:ext cx="1248533" cy="2534416"/>
          </a:xfrm>
          <a:custGeom>
            <a:avLst/>
            <a:gdLst/>
            <a:ahLst/>
            <a:cxnLst/>
            <a:rect l="l" t="t" r="r" b="b"/>
            <a:pathLst>
              <a:path w="1248533" h="2534416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5400000">
            <a:off x="9501573" y="8413669"/>
            <a:ext cx="1520526" cy="3086537"/>
          </a:xfrm>
          <a:custGeom>
            <a:avLst/>
            <a:gdLst/>
            <a:ahLst/>
            <a:cxnLst/>
            <a:rect l="l" t="t" r="r" b="b"/>
            <a:pathLst>
              <a:path w="1520526" h="3086537">
                <a:moveTo>
                  <a:pt x="0" y="0"/>
                </a:moveTo>
                <a:lnTo>
                  <a:pt x="1520525" y="0"/>
                </a:lnTo>
                <a:lnTo>
                  <a:pt x="1520525" y="3086537"/>
                </a:lnTo>
                <a:lnTo>
                  <a:pt x="0" y="30865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718567" y="1229307"/>
            <a:ext cx="666145" cy="660506"/>
          </a:xfrm>
          <a:custGeom>
            <a:avLst/>
            <a:gdLst/>
            <a:ahLst/>
            <a:cxnLst/>
            <a:rect l="l" t="t" r="r" b="b"/>
            <a:pathLst>
              <a:path w="666145" h="660506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06388" r="-103152"/>
            </a:stretch>
          </a:blipFill>
        </p:spPr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F3A38113-03AD-BC25-55BE-C75B47F67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900663"/>
              </p:ext>
            </p:extLst>
          </p:nvPr>
        </p:nvGraphicFramePr>
        <p:xfrm>
          <a:off x="806141" y="6033086"/>
          <a:ext cx="12192000" cy="1554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484725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2541353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79274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Percentage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854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5,634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859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1,409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279784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26D093D4-CF80-5CBC-DCFC-1868A08B70A9}"/>
              </a:ext>
            </a:extLst>
          </p:cNvPr>
          <p:cNvSpPr txBox="1"/>
          <p:nvPr/>
        </p:nvSpPr>
        <p:spPr>
          <a:xfrm>
            <a:off x="678045" y="8461108"/>
            <a:ext cx="1203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</a:rPr>
              <a:t>Stratified split to maintain churn distribution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09813">
            <a:off x="1190391" y="-3887171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454844">
            <a:off x="4027966" y="3480094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7017745" y="5210303"/>
            <a:ext cx="1622664" cy="3293868"/>
          </a:xfrm>
          <a:custGeom>
            <a:avLst/>
            <a:gdLst/>
            <a:ahLst/>
            <a:cxnLst/>
            <a:rect l="l" t="t" r="r" b="b"/>
            <a:pathLst>
              <a:path w="1622664" h="3293868">
                <a:moveTo>
                  <a:pt x="1622664" y="0"/>
                </a:moveTo>
                <a:lnTo>
                  <a:pt x="0" y="0"/>
                </a:lnTo>
                <a:lnTo>
                  <a:pt x="0" y="3293869"/>
                </a:lnTo>
                <a:lnTo>
                  <a:pt x="1622664" y="3293869"/>
                </a:lnTo>
                <a:lnTo>
                  <a:pt x="162266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 flipV="1">
            <a:off x="1590020" y="8233202"/>
            <a:ext cx="1627419" cy="3303521"/>
          </a:xfrm>
          <a:custGeom>
            <a:avLst/>
            <a:gdLst/>
            <a:ahLst/>
            <a:cxnLst/>
            <a:rect l="l" t="t" r="r" b="b"/>
            <a:pathLst>
              <a:path w="1627419" h="3303521">
                <a:moveTo>
                  <a:pt x="1627419" y="3303521"/>
                </a:moveTo>
                <a:lnTo>
                  <a:pt x="0" y="3303521"/>
                </a:lnTo>
                <a:lnTo>
                  <a:pt x="0" y="0"/>
                </a:lnTo>
                <a:lnTo>
                  <a:pt x="1627419" y="0"/>
                </a:lnTo>
                <a:lnTo>
                  <a:pt x="1627419" y="3303521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0" y="654789"/>
            <a:ext cx="172593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Data Cleaning &amp; Preprocessing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7633" y="3137899"/>
            <a:ext cx="7077716" cy="82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54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Cleaning Steps: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7980" y="3974453"/>
            <a:ext cx="7950836" cy="4715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Converted </a:t>
            </a:r>
            <a:r>
              <a:rPr lang="en-US" sz="3200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TotalCharges</a:t>
            </a: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numeric</a:t>
            </a:r>
          </a:p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Filled missing values with mean</a:t>
            </a:r>
          </a:p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Removed </a:t>
            </a:r>
            <a:r>
              <a:rPr lang="en-US" sz="3200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customerID</a:t>
            </a:r>
            <a:endParaRPr lang="en-US" sz="32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Encoded target: Churn = 1, No Churn = 0</a:t>
            </a:r>
          </a:p>
        </p:txBody>
      </p:sp>
      <p:sp>
        <p:nvSpPr>
          <p:cNvPr id="30" name="Freeform 30"/>
          <p:cNvSpPr/>
          <p:nvPr/>
        </p:nvSpPr>
        <p:spPr>
          <a:xfrm>
            <a:off x="7365349" y="1806816"/>
            <a:ext cx="1971810" cy="240202"/>
          </a:xfrm>
          <a:custGeom>
            <a:avLst/>
            <a:gdLst/>
            <a:ahLst/>
            <a:cxnLst/>
            <a:rect l="l" t="t" r="r" b="b"/>
            <a:pathLst>
              <a:path w="1971810" h="240202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7A8E03AA-C78D-8358-60A3-8C18BE29897D}"/>
              </a:ext>
            </a:extLst>
          </p:cNvPr>
          <p:cNvSpPr txBox="1"/>
          <p:nvPr/>
        </p:nvSpPr>
        <p:spPr>
          <a:xfrm>
            <a:off x="8740510" y="3232032"/>
            <a:ext cx="8569509" cy="82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54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Preprocessing Pipelines:</a:t>
            </a: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2C893EBC-B05D-CC6C-0B0F-F36BA91493BE}"/>
              </a:ext>
            </a:extLst>
          </p:cNvPr>
          <p:cNvSpPr txBox="1"/>
          <p:nvPr/>
        </p:nvSpPr>
        <p:spPr>
          <a:xfrm>
            <a:off x="9430858" y="4068586"/>
            <a:ext cx="7950836" cy="4715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Numerical: </a:t>
            </a: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Median imputation + </a:t>
            </a:r>
            <a:r>
              <a:rPr lang="en-US" sz="3200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StandardScaler</a:t>
            </a:r>
            <a:endParaRPr lang="en-US" sz="32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Categorical: </a:t>
            </a: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Most frequent imputation + </a:t>
            </a:r>
            <a:r>
              <a:rPr lang="en-US" sz="3200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OneHotEncoder</a:t>
            </a:r>
            <a:endParaRPr lang="en-US" sz="32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E65F6-7C8D-2C64-DD47-9F49DA282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386CE2-7AE2-4B7D-70A0-1860579A4C34}"/>
              </a:ext>
            </a:extLst>
          </p:cNvPr>
          <p:cNvSpPr/>
          <p:nvPr/>
        </p:nvSpPr>
        <p:spPr>
          <a:xfrm rot="10509813">
            <a:off x="1190391" y="-3887171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304E198-6CD1-6B02-F0CB-E083AB392C08}"/>
              </a:ext>
            </a:extLst>
          </p:cNvPr>
          <p:cNvSpPr/>
          <p:nvPr/>
        </p:nvSpPr>
        <p:spPr>
          <a:xfrm rot="-2454844">
            <a:off x="4027966" y="3480094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674E32B-BE84-20B1-0A74-EC8834C8B062}"/>
              </a:ext>
            </a:extLst>
          </p:cNvPr>
          <p:cNvSpPr/>
          <p:nvPr/>
        </p:nvSpPr>
        <p:spPr>
          <a:xfrm flipH="1">
            <a:off x="17017745" y="5210303"/>
            <a:ext cx="1622664" cy="3293868"/>
          </a:xfrm>
          <a:custGeom>
            <a:avLst/>
            <a:gdLst/>
            <a:ahLst/>
            <a:cxnLst/>
            <a:rect l="l" t="t" r="r" b="b"/>
            <a:pathLst>
              <a:path w="1622664" h="3293868">
                <a:moveTo>
                  <a:pt x="1622664" y="0"/>
                </a:moveTo>
                <a:lnTo>
                  <a:pt x="0" y="0"/>
                </a:lnTo>
                <a:lnTo>
                  <a:pt x="0" y="3293869"/>
                </a:lnTo>
                <a:lnTo>
                  <a:pt x="1622664" y="3293869"/>
                </a:lnTo>
                <a:lnTo>
                  <a:pt x="1622664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82BE25E-2163-B7BC-E3E0-0C5F3D2823C1}"/>
              </a:ext>
            </a:extLst>
          </p:cNvPr>
          <p:cNvSpPr/>
          <p:nvPr/>
        </p:nvSpPr>
        <p:spPr>
          <a:xfrm rot="5400000" flipH="1" flipV="1">
            <a:off x="1590020" y="8233202"/>
            <a:ext cx="1627419" cy="3303521"/>
          </a:xfrm>
          <a:custGeom>
            <a:avLst/>
            <a:gdLst/>
            <a:ahLst/>
            <a:cxnLst/>
            <a:rect l="l" t="t" r="r" b="b"/>
            <a:pathLst>
              <a:path w="1627419" h="3303521">
                <a:moveTo>
                  <a:pt x="1627419" y="3303521"/>
                </a:moveTo>
                <a:lnTo>
                  <a:pt x="0" y="3303521"/>
                </a:lnTo>
                <a:lnTo>
                  <a:pt x="0" y="0"/>
                </a:lnTo>
                <a:lnTo>
                  <a:pt x="1627419" y="0"/>
                </a:lnTo>
                <a:lnTo>
                  <a:pt x="1627419" y="3303521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4A184EC-C630-262C-95CC-ADF019C3C551}"/>
              </a:ext>
            </a:extLst>
          </p:cNvPr>
          <p:cNvSpPr txBox="1"/>
          <p:nvPr/>
        </p:nvSpPr>
        <p:spPr>
          <a:xfrm>
            <a:off x="299166" y="655230"/>
            <a:ext cx="172593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Models &amp; Evaluation Metrics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B467941-F24B-5E85-3813-BB408CB78CD3}"/>
              </a:ext>
            </a:extLst>
          </p:cNvPr>
          <p:cNvSpPr txBox="1"/>
          <p:nvPr/>
        </p:nvSpPr>
        <p:spPr>
          <a:xfrm>
            <a:off x="287633" y="3137899"/>
            <a:ext cx="7077716" cy="82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54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Models Selected: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4B85108-61AC-403C-F818-9AB2BBC8E96E}"/>
              </a:ext>
            </a:extLst>
          </p:cNvPr>
          <p:cNvSpPr txBox="1"/>
          <p:nvPr/>
        </p:nvSpPr>
        <p:spPr>
          <a:xfrm>
            <a:off x="544985" y="4131387"/>
            <a:ext cx="8452878" cy="3484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Logistic Regression (baseline, interpretable)</a:t>
            </a:r>
          </a:p>
          <a:p>
            <a:pPr marL="457200" indent="-457200" algn="l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Random Forest (ensemble, handles non-linearity)</a:t>
            </a: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BA8CCA73-1440-AD38-BC80-BD7CEAB7FA23}"/>
              </a:ext>
            </a:extLst>
          </p:cNvPr>
          <p:cNvSpPr/>
          <p:nvPr/>
        </p:nvSpPr>
        <p:spPr>
          <a:xfrm>
            <a:off x="7365349" y="1806816"/>
            <a:ext cx="1971810" cy="240202"/>
          </a:xfrm>
          <a:custGeom>
            <a:avLst/>
            <a:gdLst/>
            <a:ahLst/>
            <a:cxnLst/>
            <a:rect l="l" t="t" r="r" b="b"/>
            <a:pathLst>
              <a:path w="1971810" h="240202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6B30FDB5-6508-701F-EE2C-1A1604F8D978}"/>
              </a:ext>
            </a:extLst>
          </p:cNvPr>
          <p:cNvSpPr txBox="1"/>
          <p:nvPr/>
        </p:nvSpPr>
        <p:spPr>
          <a:xfrm>
            <a:off x="9893096" y="3140712"/>
            <a:ext cx="8569509" cy="82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5400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Evaluation Metrics:</a:t>
            </a: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8B9AE507-08E6-2404-532D-AD0AC65C5DBF}"/>
              </a:ext>
            </a:extLst>
          </p:cNvPr>
          <p:cNvSpPr txBox="1"/>
          <p:nvPr/>
        </p:nvSpPr>
        <p:spPr>
          <a:xfrm>
            <a:off x="10202432" y="4061797"/>
            <a:ext cx="7950836" cy="5084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Accuracy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Precision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Recall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F1-Score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ROC-AUC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Confusion Matrix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5-Fold Cross-Validation</a:t>
            </a:r>
            <a:endParaRPr lang="en-US" sz="32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  <p:extLst>
      <p:ext uri="{BB962C8B-B14F-4D97-AF65-F5344CB8AC3E}">
        <p14:creationId xmlns:p14="http://schemas.microsoft.com/office/powerpoint/2010/main" val="26145945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4591" flipH="1">
            <a:off x="-3561422" y="5173956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06260" y="6454190"/>
            <a:ext cx="1216033" cy="2468444"/>
          </a:xfrm>
          <a:custGeom>
            <a:avLst/>
            <a:gdLst/>
            <a:ahLst/>
            <a:cxnLst/>
            <a:rect l="l" t="t" r="r" b="b"/>
            <a:pathLst>
              <a:path w="1216033" h="2468444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>
            <a:off x="16014263" y="6769491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171694">
            <a:off x="11249471" y="-3887171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85800" y="6198320"/>
            <a:ext cx="7426541" cy="1038334"/>
            <a:chOff x="0" y="0"/>
            <a:chExt cx="290672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06720" cy="406400"/>
            </a:xfrm>
            <a:custGeom>
              <a:avLst/>
              <a:gdLst/>
              <a:ahLst/>
              <a:cxnLst/>
              <a:rect l="l" t="t" r="r" b="b"/>
              <a:pathLst>
                <a:path w="2906720" h="406400">
                  <a:moveTo>
                    <a:pt x="2703520" y="0"/>
                  </a:moveTo>
                  <a:cubicBezTo>
                    <a:pt x="2815744" y="0"/>
                    <a:pt x="2906720" y="90976"/>
                    <a:pt x="2906720" y="203200"/>
                  </a:cubicBezTo>
                  <a:cubicBezTo>
                    <a:pt x="2906720" y="315424"/>
                    <a:pt x="2815744" y="406400"/>
                    <a:pt x="27035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90672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89859" y="6198320"/>
            <a:ext cx="7426541" cy="1038334"/>
            <a:chOff x="0" y="0"/>
            <a:chExt cx="290672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06720" cy="406400"/>
            </a:xfrm>
            <a:custGeom>
              <a:avLst/>
              <a:gdLst/>
              <a:ahLst/>
              <a:cxnLst/>
              <a:rect l="l" t="t" r="r" b="b"/>
              <a:pathLst>
                <a:path w="2906720" h="406400">
                  <a:moveTo>
                    <a:pt x="2703520" y="0"/>
                  </a:moveTo>
                  <a:cubicBezTo>
                    <a:pt x="2815744" y="0"/>
                    <a:pt x="2906720" y="90976"/>
                    <a:pt x="2906720" y="203200"/>
                  </a:cubicBezTo>
                  <a:cubicBezTo>
                    <a:pt x="2906720" y="315424"/>
                    <a:pt x="2815744" y="406400"/>
                    <a:pt x="27035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90672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5800" y="7465090"/>
            <a:ext cx="7426541" cy="1038334"/>
            <a:chOff x="0" y="0"/>
            <a:chExt cx="290672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06720" cy="406400"/>
            </a:xfrm>
            <a:custGeom>
              <a:avLst/>
              <a:gdLst/>
              <a:ahLst/>
              <a:cxnLst/>
              <a:rect l="l" t="t" r="r" b="b"/>
              <a:pathLst>
                <a:path w="2906720" h="406400">
                  <a:moveTo>
                    <a:pt x="2703520" y="0"/>
                  </a:moveTo>
                  <a:cubicBezTo>
                    <a:pt x="2815744" y="0"/>
                    <a:pt x="2906720" y="90976"/>
                    <a:pt x="2906720" y="203200"/>
                  </a:cubicBezTo>
                  <a:cubicBezTo>
                    <a:pt x="2906720" y="315424"/>
                    <a:pt x="2815744" y="406400"/>
                    <a:pt x="27035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90672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9859" y="7465090"/>
            <a:ext cx="7426541" cy="1038334"/>
            <a:chOff x="0" y="0"/>
            <a:chExt cx="290672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06720" cy="406400"/>
            </a:xfrm>
            <a:custGeom>
              <a:avLst/>
              <a:gdLst/>
              <a:ahLst/>
              <a:cxnLst/>
              <a:rect l="l" t="t" r="r" b="b"/>
              <a:pathLst>
                <a:path w="2906720" h="406400">
                  <a:moveTo>
                    <a:pt x="2703520" y="0"/>
                  </a:moveTo>
                  <a:cubicBezTo>
                    <a:pt x="2815744" y="0"/>
                    <a:pt x="2906720" y="90976"/>
                    <a:pt x="2906720" y="203200"/>
                  </a:cubicBezTo>
                  <a:cubicBezTo>
                    <a:pt x="2906720" y="315424"/>
                    <a:pt x="2815744" y="406400"/>
                    <a:pt x="27035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90672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8700" y="1181100"/>
            <a:ext cx="617948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088798"/>
            <a:ext cx="617948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Findings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699" y="3508375"/>
            <a:ext cx="13703281" cy="73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Churn Rate: </a:t>
            </a:r>
            <a:r>
              <a:rPr lang="ar-SA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          </a:t>
            </a:r>
            <a:r>
              <a:rPr lang="en-US" sz="36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26.54% (1,869 churned / 5,174 loyal)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6464" y="5482079"/>
            <a:ext cx="7845977" cy="41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36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Top Insights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4447" y="6422212"/>
            <a:ext cx="6864994" cy="490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Month-to-month contract churn: 42.7%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68493" y="6158666"/>
            <a:ext cx="6627162" cy="1034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Avg tenure (churned): 18 months vs 37.6 months (loyal)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4447" y="7688982"/>
            <a:ext cx="6864994" cy="496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Two-year contract churn: 2.8%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22410" y="7419677"/>
            <a:ext cx="6719328" cy="1034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Paperless billing churn: 33.6% vs Traditional: 16.3%</a:t>
            </a:r>
          </a:p>
        </p:txBody>
      </p:sp>
      <p:sp>
        <p:nvSpPr>
          <p:cNvPr id="34" name="Freeform 34"/>
          <p:cNvSpPr/>
          <p:nvPr/>
        </p:nvSpPr>
        <p:spPr>
          <a:xfrm>
            <a:off x="8979536" y="1696195"/>
            <a:ext cx="1971810" cy="240202"/>
          </a:xfrm>
          <a:custGeom>
            <a:avLst/>
            <a:gdLst/>
            <a:ahLst/>
            <a:cxnLst/>
            <a:rect l="l" t="t" r="r" b="b"/>
            <a:pathLst>
              <a:path w="1971810" h="240202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6" grpId="0"/>
      <p:bldP spid="27" grpId="0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59424-DD3B-7C15-60E9-F342CE79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196B85-C99F-37B4-5D18-F79D6A7D94B8}"/>
              </a:ext>
            </a:extLst>
          </p:cNvPr>
          <p:cNvSpPr/>
          <p:nvPr/>
        </p:nvSpPr>
        <p:spPr>
          <a:xfrm rot="1344591" flipH="1">
            <a:off x="-3614126" y="5213662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2085F35-77B2-55C2-1CB0-4825026D03F5}"/>
              </a:ext>
            </a:extLst>
          </p:cNvPr>
          <p:cNvSpPr/>
          <p:nvPr/>
        </p:nvSpPr>
        <p:spPr>
          <a:xfrm>
            <a:off x="-606260" y="6454190"/>
            <a:ext cx="1216033" cy="2468444"/>
          </a:xfrm>
          <a:custGeom>
            <a:avLst/>
            <a:gdLst/>
            <a:ahLst/>
            <a:cxnLst/>
            <a:rect l="l" t="t" r="r" b="b"/>
            <a:pathLst>
              <a:path w="1216033" h="2468444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592080F-92F8-887D-46AD-BA204FD060A0}"/>
              </a:ext>
            </a:extLst>
          </p:cNvPr>
          <p:cNvSpPr/>
          <p:nvPr/>
        </p:nvSpPr>
        <p:spPr>
          <a:xfrm rot="5400000" flipH="1">
            <a:off x="16014263" y="6769491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2C9960-D061-4E87-5000-F395941B2C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9689" y="845313"/>
            <a:ext cx="10496991" cy="87432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50958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59737">
            <a:off x="3121357" y="4914121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>
            <a:off x="16439008" y="7391920"/>
            <a:ext cx="2220593" cy="4507614"/>
          </a:xfrm>
          <a:custGeom>
            <a:avLst/>
            <a:gdLst/>
            <a:ahLst/>
            <a:cxnLst/>
            <a:rect l="l" t="t" r="r" b="b"/>
            <a:pathLst>
              <a:path w="2220593" h="4507614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V="1">
            <a:off x="-279147" y="-1633942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74227" y="7525101"/>
            <a:ext cx="9917990" cy="429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40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Best Model: </a:t>
            </a:r>
            <a:r>
              <a:rPr lang="en-US" sz="40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Logistic Regression ✅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-685800" y="9695831"/>
            <a:ext cx="4726694" cy="490540"/>
            <a:chOff x="0" y="0"/>
            <a:chExt cx="3915949" cy="40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 rot="-10800000">
            <a:off x="5504136" y="-4573010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3493210" y="2455973"/>
            <a:ext cx="1971810" cy="240202"/>
          </a:xfrm>
          <a:custGeom>
            <a:avLst/>
            <a:gdLst/>
            <a:ahLst/>
            <a:cxnLst/>
            <a:rect l="l" t="t" r="r" b="b"/>
            <a:pathLst>
              <a:path w="1971810" h="240202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31556" y="1377738"/>
            <a:ext cx="13726974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7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Model Performance Comparison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A65E6E1-4108-5E3F-588C-B7C8DA314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446698"/>
              </p:ext>
            </p:extLst>
          </p:nvPr>
        </p:nvGraphicFramePr>
        <p:xfrm>
          <a:off x="3103497" y="4283827"/>
          <a:ext cx="12192000" cy="24079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816464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997360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91963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035666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85511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0734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Test 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47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/>
                        <a:t>80.6%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/>
                        <a:t>65.7%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/>
                        <a:t>55.9%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/>
                        <a:t>60.4%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0" dirty="0"/>
                        <a:t>84.2%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31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78.6%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62.2%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49.2%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/>
                        <a:t>54.9%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82.4%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62777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D3043-21D4-A57D-3012-6D0831AC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9CF866-C4B4-83F6-9D63-FD4A9214FC24}"/>
              </a:ext>
            </a:extLst>
          </p:cNvPr>
          <p:cNvSpPr/>
          <p:nvPr/>
        </p:nvSpPr>
        <p:spPr>
          <a:xfrm rot="-1859737">
            <a:off x="3121357" y="4914121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38C5648-81E7-A0FE-5F5D-F26865C8290D}"/>
              </a:ext>
            </a:extLst>
          </p:cNvPr>
          <p:cNvSpPr/>
          <p:nvPr/>
        </p:nvSpPr>
        <p:spPr>
          <a:xfrm rot="5400000" flipV="1">
            <a:off x="-279147" y="-1633942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2FAAB4A-9B1F-0118-2909-236ED3D8E8F2}"/>
              </a:ext>
            </a:extLst>
          </p:cNvPr>
          <p:cNvSpPr txBox="1"/>
          <p:nvPr/>
        </p:nvSpPr>
        <p:spPr>
          <a:xfrm>
            <a:off x="-402318" y="8196287"/>
            <a:ext cx="1172127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32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Interpretation: Identified 56% of actual churners</a:t>
            </a:r>
            <a:endParaRPr lang="en-US" sz="32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6B2BC00-129E-6C6F-388A-ED8786AB6F5D}"/>
              </a:ext>
            </a:extLst>
          </p:cNvPr>
          <p:cNvGrpSpPr/>
          <p:nvPr/>
        </p:nvGrpSpPr>
        <p:grpSpPr>
          <a:xfrm>
            <a:off x="-685800" y="9695831"/>
            <a:ext cx="4726694" cy="490540"/>
            <a:chOff x="0" y="0"/>
            <a:chExt cx="3915949" cy="4064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C5C72E8-7403-48F6-46F8-4C1691B0F426}"/>
                </a:ext>
              </a:extLst>
            </p:cNvPr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F4CB1959-5585-1F83-8FEF-FC8AC5DEC0AD}"/>
                </a:ext>
              </a:extLst>
            </p:cNvPr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8" name="Freeform 48">
            <a:extLst>
              <a:ext uri="{FF2B5EF4-FFF2-40B4-BE49-F238E27FC236}">
                <a16:creationId xmlns:a16="http://schemas.microsoft.com/office/drawing/2014/main" id="{D887A5EA-7B28-1CD3-E4FE-A716CEE29B1E}"/>
              </a:ext>
            </a:extLst>
          </p:cNvPr>
          <p:cNvSpPr/>
          <p:nvPr/>
        </p:nvSpPr>
        <p:spPr>
          <a:xfrm rot="-10800000">
            <a:off x="5504136" y="-4573010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3C621EC0-F464-ABE0-12D2-ACF260CC344F}"/>
              </a:ext>
            </a:extLst>
          </p:cNvPr>
          <p:cNvSpPr/>
          <p:nvPr/>
        </p:nvSpPr>
        <p:spPr>
          <a:xfrm>
            <a:off x="3493210" y="2455973"/>
            <a:ext cx="1971810" cy="240202"/>
          </a:xfrm>
          <a:custGeom>
            <a:avLst/>
            <a:gdLst/>
            <a:ahLst/>
            <a:cxnLst/>
            <a:rect l="l" t="t" r="r" b="b"/>
            <a:pathLst>
              <a:path w="1971810" h="240202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C07C9BA-ECB6-BEEA-0042-2C161D36BCB7}"/>
              </a:ext>
            </a:extLst>
          </p:cNvPr>
          <p:cNvSpPr txBox="1"/>
          <p:nvPr/>
        </p:nvSpPr>
        <p:spPr>
          <a:xfrm>
            <a:off x="2762206" y="1227668"/>
            <a:ext cx="13726974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7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Best Model – Logistic Regression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F4179F-0C37-BDE5-0EDC-6025EED2D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065241"/>
              </p:ext>
            </p:extLst>
          </p:nvPr>
        </p:nvGraphicFramePr>
        <p:xfrm>
          <a:off x="629632" y="5021215"/>
          <a:ext cx="9657370" cy="2316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31474">
                  <a:extLst>
                    <a:ext uri="{9D8B030D-6E8A-4147-A177-3AD203B41FA5}">
                      <a16:colId xmlns:a16="http://schemas.microsoft.com/office/drawing/2014/main" val="2376596582"/>
                    </a:ext>
                  </a:extLst>
                </a:gridCol>
                <a:gridCol w="1931474">
                  <a:extLst>
                    <a:ext uri="{9D8B030D-6E8A-4147-A177-3AD203B41FA5}">
                      <a16:colId xmlns:a16="http://schemas.microsoft.com/office/drawing/2014/main" val="3489967088"/>
                    </a:ext>
                  </a:extLst>
                </a:gridCol>
                <a:gridCol w="1931474">
                  <a:extLst>
                    <a:ext uri="{9D8B030D-6E8A-4147-A177-3AD203B41FA5}">
                      <a16:colId xmlns:a16="http://schemas.microsoft.com/office/drawing/2014/main" val="2929706891"/>
                    </a:ext>
                  </a:extLst>
                </a:gridCol>
                <a:gridCol w="1931474">
                  <a:extLst>
                    <a:ext uri="{9D8B030D-6E8A-4147-A177-3AD203B41FA5}">
                      <a16:colId xmlns:a16="http://schemas.microsoft.com/office/drawing/2014/main" val="3360576397"/>
                    </a:ext>
                  </a:extLst>
                </a:gridCol>
                <a:gridCol w="1931474">
                  <a:extLst>
                    <a:ext uri="{9D8B030D-6E8A-4147-A177-3AD203B41FA5}">
                      <a16:colId xmlns:a16="http://schemas.microsoft.com/office/drawing/2014/main" val="759715890"/>
                    </a:ext>
                  </a:extLst>
                </a:gridCol>
              </a:tblGrid>
              <a:tr h="536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40643"/>
                  </a:ext>
                </a:extLst>
              </a:tr>
              <a:tr h="536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No 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1,035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403463"/>
                  </a:ext>
                </a:extLst>
              </a:tr>
              <a:tr h="536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Churn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374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359560"/>
                  </a:ext>
                </a:extLst>
              </a:tr>
              <a:tr h="536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/>
                        <a:t>Average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/>
                        <a:t>0.80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/>
                        <a:t>0.81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/>
                        <a:t>0.80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1,409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986920"/>
                  </a:ext>
                </a:extLst>
              </a:tr>
            </a:tbl>
          </a:graphicData>
        </a:graphic>
      </p:graphicFrame>
      <p:sp>
        <p:nvSpPr>
          <p:cNvPr id="9" name="TextBox 7">
            <a:extLst>
              <a:ext uri="{FF2B5EF4-FFF2-40B4-BE49-F238E27FC236}">
                <a16:creationId xmlns:a16="http://schemas.microsoft.com/office/drawing/2014/main" id="{901BA1B3-4E94-4C14-CE53-F26DF45E3CC2}"/>
              </a:ext>
            </a:extLst>
          </p:cNvPr>
          <p:cNvSpPr txBox="1"/>
          <p:nvPr/>
        </p:nvSpPr>
        <p:spPr>
          <a:xfrm>
            <a:off x="987661" y="3940146"/>
            <a:ext cx="1172127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49"/>
              </a:lnSpc>
            </a:pPr>
            <a:r>
              <a:rPr lang="en-US" sz="40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Confusion Matrix Summary:</a:t>
            </a:r>
            <a:endParaRPr lang="en-US" sz="40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749C46-2900-7152-38C4-C4FBE03433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361" y="3157928"/>
            <a:ext cx="7160929" cy="65767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00D05E85-4E22-A66D-DE12-E1DFD6677E38}"/>
              </a:ext>
            </a:extLst>
          </p:cNvPr>
          <p:cNvSpPr/>
          <p:nvPr/>
        </p:nvSpPr>
        <p:spPr>
          <a:xfrm rot="5400000" flipH="1">
            <a:off x="16439008" y="7391920"/>
            <a:ext cx="2220593" cy="4507614"/>
          </a:xfrm>
          <a:custGeom>
            <a:avLst/>
            <a:gdLst/>
            <a:ahLst/>
            <a:cxnLst/>
            <a:rect l="l" t="t" r="r" b="b"/>
            <a:pathLst>
              <a:path w="2220593" h="4507614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5909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64831" flipH="1">
            <a:off x="-4568671" y="3075263"/>
            <a:ext cx="21822962" cy="7261095"/>
          </a:xfrm>
          <a:custGeom>
            <a:avLst/>
            <a:gdLst/>
            <a:ahLst/>
            <a:cxnLst/>
            <a:rect l="l" t="t" r="r" b="b"/>
            <a:pathLst>
              <a:path w="21822962" h="7261095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7055059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46921" y="1028700"/>
            <a:ext cx="1675621" cy="3401366"/>
          </a:xfrm>
          <a:custGeom>
            <a:avLst/>
            <a:gdLst/>
            <a:ahLst/>
            <a:cxnLst/>
            <a:rect l="l" t="t" r="r" b="b"/>
            <a:pathLst>
              <a:path w="1675621" h="3401366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54171" y="119277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86279" y="1192771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192049" y="939268"/>
            <a:ext cx="10023993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Cross-Validation Results</a:t>
            </a:r>
          </a:p>
        </p:txBody>
      </p:sp>
      <p:sp>
        <p:nvSpPr>
          <p:cNvPr id="20" name="Freeform 20"/>
          <p:cNvSpPr/>
          <p:nvPr/>
        </p:nvSpPr>
        <p:spPr>
          <a:xfrm rot="-10800000">
            <a:off x="12972163" y="-4028288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10800000">
            <a:off x="-1073490" y="9486900"/>
            <a:ext cx="5211566" cy="5221059"/>
          </a:xfrm>
          <a:custGeom>
            <a:avLst/>
            <a:gdLst/>
            <a:ahLst/>
            <a:cxnLst/>
            <a:rect l="l" t="t" r="r" b="b"/>
            <a:pathLst>
              <a:path w="5211566" h="5221059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934465" y="2088798"/>
            <a:ext cx="6419071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(5-Fold)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B41A2FB-0114-39E7-1C4E-140BCA36B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67303"/>
              </p:ext>
            </p:extLst>
          </p:nvPr>
        </p:nvGraphicFramePr>
        <p:xfrm>
          <a:off x="3048000" y="3976166"/>
          <a:ext cx="12192000" cy="4632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42056915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671562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Fold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72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81.2%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709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80.1%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171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79.8%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53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80.5%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026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80.5%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446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/>
                        <a:t>Mean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/>
                        <a:t>80.42%</a:t>
                      </a:r>
                      <a:endParaRPr lang="en-US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97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/>
                        <a:t>Std</a:t>
                      </a:r>
                      <a:endParaRPr 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/>
                        <a:t>1.42%</a:t>
                      </a:r>
                      <a:endParaRPr 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872142"/>
                  </a:ext>
                </a:extLst>
              </a:tr>
            </a:tbl>
          </a:graphicData>
        </a:graphic>
      </p:graphicFrame>
      <p:sp>
        <p:nvSpPr>
          <p:cNvPr id="37" name="TextBox 7">
            <a:extLst>
              <a:ext uri="{FF2B5EF4-FFF2-40B4-BE49-F238E27FC236}">
                <a16:creationId xmlns:a16="http://schemas.microsoft.com/office/drawing/2014/main" id="{CFCEB1F4-4F7A-9F7B-EBB9-DCA55BFF0727}"/>
              </a:ext>
            </a:extLst>
          </p:cNvPr>
          <p:cNvSpPr txBox="1"/>
          <p:nvPr/>
        </p:nvSpPr>
        <p:spPr>
          <a:xfrm>
            <a:off x="1671705" y="9347732"/>
            <a:ext cx="14944590" cy="429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40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✅ Low standard deviation → Model is stable and generalizable</a:t>
            </a:r>
            <a:endParaRPr lang="en-US" sz="40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81100"/>
            <a:ext cx="8271891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Why Logistic Regression Won</a:t>
            </a:r>
          </a:p>
        </p:txBody>
      </p:sp>
      <p:sp>
        <p:nvSpPr>
          <p:cNvPr id="3" name="Freeform 3"/>
          <p:cNvSpPr/>
          <p:nvPr/>
        </p:nvSpPr>
        <p:spPr>
          <a:xfrm rot="1344591" flipH="1">
            <a:off x="-4148183" y="5002073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31506" y="2115465"/>
            <a:ext cx="1248533" cy="2534416"/>
          </a:xfrm>
          <a:custGeom>
            <a:avLst/>
            <a:gdLst/>
            <a:ahLst/>
            <a:cxnLst/>
            <a:rect l="l" t="t" r="r" b="b"/>
            <a:pathLst>
              <a:path w="1248533" h="2534416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9356748" y="8168662"/>
            <a:ext cx="1639686" cy="3328423"/>
          </a:xfrm>
          <a:custGeom>
            <a:avLst/>
            <a:gdLst/>
            <a:ahLst/>
            <a:cxnLst/>
            <a:rect l="l" t="t" r="r" b="b"/>
            <a:pathLst>
              <a:path w="1639686" h="3328423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975364">
            <a:off x="9267610" y="-6454114"/>
            <a:ext cx="8862696" cy="8878839"/>
          </a:xfrm>
          <a:custGeom>
            <a:avLst/>
            <a:gdLst/>
            <a:ahLst/>
            <a:cxnLst/>
            <a:rect l="l" t="t" r="r" b="b"/>
            <a:pathLst>
              <a:path w="8862696" h="8878839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077744" y="2115465"/>
            <a:ext cx="1971810" cy="240202"/>
          </a:xfrm>
          <a:custGeom>
            <a:avLst/>
            <a:gdLst/>
            <a:ahLst/>
            <a:cxnLst/>
            <a:rect l="l" t="t" r="r" b="b"/>
            <a:pathLst>
              <a:path w="1971810" h="240202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672539" y="9002223"/>
            <a:ext cx="666145" cy="660506"/>
          </a:xfrm>
          <a:custGeom>
            <a:avLst/>
            <a:gdLst/>
            <a:ahLst/>
            <a:cxnLst/>
            <a:rect l="l" t="t" r="r" b="b"/>
            <a:pathLst>
              <a:path w="666145" h="660506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06388" r="-103152"/>
            </a:stretch>
          </a:blipFill>
        </p:spPr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38E07E5-A062-2092-5749-277C62A30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474424"/>
              </p:ext>
            </p:extLst>
          </p:nvPr>
        </p:nvGraphicFramePr>
        <p:xfrm>
          <a:off x="3048000" y="4190616"/>
          <a:ext cx="12192000" cy="2316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400106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3572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06530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Random Forest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815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Train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80.6%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99.8%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932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Test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80.6%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78.6%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466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/>
                        <a:t>Severe (21% gap)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8159751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D1478B1E-2039-F711-DEF3-C1699B397EAA}"/>
              </a:ext>
            </a:extLst>
          </p:cNvPr>
          <p:cNvSpPr txBox="1"/>
          <p:nvPr/>
        </p:nvSpPr>
        <p:spPr>
          <a:xfrm>
            <a:off x="3086100" y="7509815"/>
            <a:ext cx="12115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  <a:latin typeface="TT Interphases"/>
              </a:rPr>
              <a:t>Conclusion: Random Forest memorized training data → failed to generalize.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4591" flipH="1">
            <a:off x="-3561422" y="5173956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04701" y="6789856"/>
            <a:ext cx="1216033" cy="2468444"/>
          </a:xfrm>
          <a:custGeom>
            <a:avLst/>
            <a:gdLst/>
            <a:ahLst/>
            <a:cxnLst/>
            <a:rect l="l" t="t" r="r" b="b"/>
            <a:pathLst>
              <a:path w="1216033" h="2468444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 flipH="1">
            <a:off x="16136517" y="7394729"/>
            <a:ext cx="2245565" cy="4558305"/>
          </a:xfrm>
          <a:custGeom>
            <a:avLst/>
            <a:gdLst/>
            <a:ahLst/>
            <a:cxnLst/>
            <a:rect l="l" t="t" r="r" b="b"/>
            <a:pathLst>
              <a:path w="2245565" h="4558305">
                <a:moveTo>
                  <a:pt x="2245566" y="0"/>
                </a:moveTo>
                <a:lnTo>
                  <a:pt x="0" y="0"/>
                </a:lnTo>
                <a:lnTo>
                  <a:pt x="0" y="4558306"/>
                </a:lnTo>
                <a:lnTo>
                  <a:pt x="2245566" y="4558306"/>
                </a:lnTo>
                <a:lnTo>
                  <a:pt x="224556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171694">
            <a:off x="11249471" y="-3887171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5473" y="1367080"/>
            <a:ext cx="88773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89"/>
              </a:lnSpc>
            </a:pPr>
            <a:r>
              <a:rPr lang="en-US" sz="6999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Business Insights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8200" y="4000500"/>
            <a:ext cx="8071484" cy="4171634"/>
            <a:chOff x="0" y="0"/>
            <a:chExt cx="2348447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48447" cy="406400"/>
            </a:xfrm>
            <a:custGeom>
              <a:avLst/>
              <a:gdLst/>
              <a:ahLst/>
              <a:cxnLst/>
              <a:rect l="l" t="t" r="r" b="b"/>
              <a:pathLst>
                <a:path w="2348447" h="406400">
                  <a:moveTo>
                    <a:pt x="2145247" y="0"/>
                  </a:moveTo>
                  <a:cubicBezTo>
                    <a:pt x="2257471" y="0"/>
                    <a:pt x="2348447" y="90976"/>
                    <a:pt x="2348447" y="203200"/>
                  </a:cubicBezTo>
                  <a:cubicBezTo>
                    <a:pt x="2348447" y="315424"/>
                    <a:pt x="2257471" y="406400"/>
                    <a:pt x="21452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348447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19773" y="4385192"/>
            <a:ext cx="7789911" cy="3407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Insight 1 – Contract Type</a:t>
            </a:r>
          </a:p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Month-to-month customers: 42.7% churn (15x higher)</a:t>
            </a:r>
          </a:p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➡️ Offer long-term contract incentives</a:t>
            </a:r>
          </a:p>
        </p:txBody>
      </p:sp>
      <p:sp>
        <p:nvSpPr>
          <p:cNvPr id="30" name="Freeform 30"/>
          <p:cNvSpPr/>
          <p:nvPr/>
        </p:nvSpPr>
        <p:spPr>
          <a:xfrm>
            <a:off x="8598939" y="1696195"/>
            <a:ext cx="1971810" cy="240202"/>
          </a:xfrm>
          <a:custGeom>
            <a:avLst/>
            <a:gdLst/>
            <a:ahLst/>
            <a:cxnLst/>
            <a:rect l="l" t="t" r="r" b="b"/>
            <a:pathLst>
              <a:path w="1971810" h="240202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049625" y="8767760"/>
            <a:ext cx="666145" cy="660506"/>
          </a:xfrm>
          <a:custGeom>
            <a:avLst/>
            <a:gdLst/>
            <a:ahLst/>
            <a:cxnLst/>
            <a:rect l="l" t="t" r="r" b="b"/>
            <a:pathLst>
              <a:path w="666145" h="660506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06388" r="-103152"/>
            </a:stretch>
          </a:blipFill>
        </p:spPr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080A25CB-4DEE-C154-1072-5F411E402CC2}"/>
              </a:ext>
            </a:extLst>
          </p:cNvPr>
          <p:cNvGrpSpPr/>
          <p:nvPr/>
        </p:nvGrpSpPr>
        <p:grpSpPr>
          <a:xfrm>
            <a:off x="9601200" y="4000500"/>
            <a:ext cx="8071484" cy="4171634"/>
            <a:chOff x="0" y="0"/>
            <a:chExt cx="2348447" cy="406400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19FDE7F6-59FA-474A-4397-C2A6F8CF64E8}"/>
                </a:ext>
              </a:extLst>
            </p:cNvPr>
            <p:cNvSpPr/>
            <p:nvPr/>
          </p:nvSpPr>
          <p:spPr>
            <a:xfrm>
              <a:off x="0" y="0"/>
              <a:ext cx="2348447" cy="406400"/>
            </a:xfrm>
            <a:custGeom>
              <a:avLst/>
              <a:gdLst/>
              <a:ahLst/>
              <a:cxnLst/>
              <a:rect l="l" t="t" r="r" b="b"/>
              <a:pathLst>
                <a:path w="2348447" h="406400">
                  <a:moveTo>
                    <a:pt x="2145247" y="0"/>
                  </a:moveTo>
                  <a:cubicBezTo>
                    <a:pt x="2257471" y="0"/>
                    <a:pt x="2348447" y="90976"/>
                    <a:pt x="2348447" y="203200"/>
                  </a:cubicBezTo>
                  <a:cubicBezTo>
                    <a:pt x="2348447" y="315424"/>
                    <a:pt x="2257471" y="406400"/>
                    <a:pt x="21452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9272D939-BA5E-18B9-D7BB-48F30EE6A93C}"/>
                </a:ext>
              </a:extLst>
            </p:cNvPr>
            <p:cNvSpPr txBox="1"/>
            <p:nvPr/>
          </p:nvSpPr>
          <p:spPr>
            <a:xfrm>
              <a:off x="0" y="-57150"/>
              <a:ext cx="2348447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5" name="TextBox 13">
            <a:extLst>
              <a:ext uri="{FF2B5EF4-FFF2-40B4-BE49-F238E27FC236}">
                <a16:creationId xmlns:a16="http://schemas.microsoft.com/office/drawing/2014/main" id="{7516EB1D-1E88-8AB4-1432-B55F92940C24}"/>
              </a:ext>
            </a:extLst>
          </p:cNvPr>
          <p:cNvSpPr txBox="1"/>
          <p:nvPr/>
        </p:nvSpPr>
        <p:spPr>
          <a:xfrm>
            <a:off x="9882773" y="4385192"/>
            <a:ext cx="7789911" cy="3407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Insight 2 – Customer Tenure</a:t>
            </a:r>
          </a:p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Churned: 18 months avg tenure | Loyal: 37.6 months</a:t>
            </a:r>
          </a:p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sz="3828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➡️ Create first-year retention program (calls, surveys, rewards)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509813">
            <a:off x="1190391" y="-3887171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454844">
            <a:off x="3951566" y="3594892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7399210" y="4351785"/>
            <a:ext cx="1401627" cy="2845182"/>
          </a:xfrm>
          <a:custGeom>
            <a:avLst/>
            <a:gdLst/>
            <a:ahLst/>
            <a:cxnLst/>
            <a:rect l="l" t="t" r="r" b="b"/>
            <a:pathLst>
              <a:path w="1401627" h="2845182">
                <a:moveTo>
                  <a:pt x="1401627" y="0"/>
                </a:moveTo>
                <a:lnTo>
                  <a:pt x="0" y="0"/>
                </a:lnTo>
                <a:lnTo>
                  <a:pt x="0" y="2845182"/>
                </a:lnTo>
                <a:lnTo>
                  <a:pt x="1401627" y="2845182"/>
                </a:lnTo>
                <a:lnTo>
                  <a:pt x="1401627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 flipV="1">
            <a:off x="1590020" y="8233202"/>
            <a:ext cx="1627419" cy="3303521"/>
          </a:xfrm>
          <a:custGeom>
            <a:avLst/>
            <a:gdLst/>
            <a:ahLst/>
            <a:cxnLst/>
            <a:rect l="l" t="t" r="r" b="b"/>
            <a:pathLst>
              <a:path w="1627419" h="3303521">
                <a:moveTo>
                  <a:pt x="1627419" y="3303521"/>
                </a:moveTo>
                <a:lnTo>
                  <a:pt x="0" y="3303521"/>
                </a:lnTo>
                <a:lnTo>
                  <a:pt x="0" y="0"/>
                </a:lnTo>
                <a:lnTo>
                  <a:pt x="1627419" y="0"/>
                </a:lnTo>
                <a:lnTo>
                  <a:pt x="1627419" y="3303521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64281" y="587451"/>
            <a:ext cx="9122342" cy="9105756"/>
          </a:xfrm>
          <a:custGeom>
            <a:avLst/>
            <a:gdLst/>
            <a:ahLst/>
            <a:cxnLst/>
            <a:rect l="l" t="t" r="r" b="b"/>
            <a:pathLst>
              <a:path w="9122342" h="9105756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157946">
            <a:off x="1466042" y="1704128"/>
            <a:ext cx="7674174" cy="2885362"/>
          </a:xfrm>
          <a:custGeom>
            <a:avLst/>
            <a:gdLst/>
            <a:ahLst/>
            <a:cxnLst/>
            <a:rect l="l" t="t" r="r" b="b"/>
            <a:pathLst>
              <a:path w="7674174" h="2885362">
                <a:moveTo>
                  <a:pt x="0" y="0"/>
                </a:moveTo>
                <a:lnTo>
                  <a:pt x="7674175" y="0"/>
                </a:lnTo>
                <a:lnTo>
                  <a:pt x="7674175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32984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69949" y="1713388"/>
            <a:ext cx="6853883" cy="68538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1121" y="1914560"/>
            <a:ext cx="6451538" cy="645153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41469" t="-23283" r="-43829" b="-24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60935" y="1052882"/>
            <a:ext cx="7225589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Business Insight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64823" y="2157363"/>
            <a:ext cx="7911562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Paperless Billing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03050" y="3441000"/>
            <a:ext cx="9156250" cy="164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9"/>
              </a:lnSpc>
            </a:pPr>
            <a:r>
              <a:rPr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Finding:</a:t>
            </a:r>
          </a:p>
          <a:p>
            <a:pPr>
              <a:lnSpc>
                <a:spcPts val="3249"/>
              </a:lnSpc>
            </a:pPr>
            <a:r>
              <a:rPr lang="en-US" sz="28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Paperless billing churn: 33.6%</a:t>
            </a:r>
          </a:p>
          <a:p>
            <a:pPr>
              <a:lnSpc>
                <a:spcPts val="3249"/>
              </a:lnSpc>
            </a:pPr>
            <a:r>
              <a:rPr lang="en-US" sz="28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Traditional billing churn: 16.3%</a:t>
            </a:r>
          </a:p>
          <a:p>
            <a:pPr>
              <a:lnSpc>
                <a:spcPts val="3249"/>
              </a:lnSpc>
            </a:pPr>
            <a:endParaRPr lang="en-US" sz="2800" dirty="0">
              <a:solidFill>
                <a:srgbClr val="FFFFFF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6127393" y="6430168"/>
            <a:ext cx="7078590" cy="958701"/>
            <a:chOff x="0" y="0"/>
            <a:chExt cx="2305595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05595" cy="406400"/>
            </a:xfrm>
            <a:custGeom>
              <a:avLst/>
              <a:gdLst/>
              <a:ahLst/>
              <a:cxnLst/>
              <a:rect l="l" t="t" r="r" b="b"/>
              <a:pathLst>
                <a:path w="2305595" h="406400">
                  <a:moveTo>
                    <a:pt x="2102395" y="0"/>
                  </a:moveTo>
                  <a:cubicBezTo>
                    <a:pt x="2214619" y="0"/>
                    <a:pt x="2305595" y="90976"/>
                    <a:pt x="2305595" y="203200"/>
                  </a:cubicBezTo>
                  <a:cubicBezTo>
                    <a:pt x="2305595" y="315424"/>
                    <a:pt x="2214619" y="406400"/>
                    <a:pt x="210239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30559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27393" y="7613799"/>
            <a:ext cx="7214425" cy="958701"/>
            <a:chOff x="0" y="0"/>
            <a:chExt cx="2305595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05595" cy="406400"/>
            </a:xfrm>
            <a:custGeom>
              <a:avLst/>
              <a:gdLst/>
              <a:ahLst/>
              <a:cxnLst/>
              <a:rect l="l" t="t" r="r" b="b"/>
              <a:pathLst>
                <a:path w="2305595" h="406400">
                  <a:moveTo>
                    <a:pt x="2102395" y="0"/>
                  </a:moveTo>
                  <a:cubicBezTo>
                    <a:pt x="2214619" y="0"/>
                    <a:pt x="2305595" y="90976"/>
                    <a:pt x="2305595" y="203200"/>
                  </a:cubicBezTo>
                  <a:cubicBezTo>
                    <a:pt x="2305595" y="315424"/>
                    <a:pt x="2214619" y="406400"/>
                    <a:pt x="210239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30559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068348" y="6613356"/>
            <a:ext cx="4938068" cy="57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1"/>
              </a:lnSpc>
              <a:spcBef>
                <a:spcPct val="0"/>
              </a:spcBef>
            </a:pPr>
            <a:r>
              <a:rPr lang="en-US" sz="3408" b="1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Proactive support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22659" y="7776185"/>
            <a:ext cx="4938068" cy="57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1"/>
              </a:lnSpc>
              <a:spcBef>
                <a:spcPct val="0"/>
              </a:spcBef>
            </a:pPr>
            <a:r>
              <a:rPr lang="en-US" sz="3408" b="1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Personalized offers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93037" y="5084839"/>
            <a:ext cx="9855133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Recommendation: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Improve digital customer experience:</a:t>
            </a:r>
            <a:endParaRPr lang="en-US" sz="3200" b="1" dirty="0">
              <a:solidFill>
                <a:schemeClr val="bg1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8458061" y="1052882"/>
            <a:ext cx="666145" cy="660506"/>
          </a:xfrm>
          <a:custGeom>
            <a:avLst/>
            <a:gdLst/>
            <a:ahLst/>
            <a:cxnLst/>
            <a:rect l="l" t="t" r="r" b="b"/>
            <a:pathLst>
              <a:path w="666145" h="660506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06388" r="-103152"/>
            </a:stretch>
          </a:blipFill>
        </p:spPr>
      </p:sp>
      <p:grpSp>
        <p:nvGrpSpPr>
          <p:cNvPr id="38" name="Group 19">
            <a:extLst>
              <a:ext uri="{FF2B5EF4-FFF2-40B4-BE49-F238E27FC236}">
                <a16:creationId xmlns:a16="http://schemas.microsoft.com/office/drawing/2014/main" id="{4D0A36B3-E172-7B91-579F-79ABEC1D47B1}"/>
              </a:ext>
            </a:extLst>
          </p:cNvPr>
          <p:cNvGrpSpPr/>
          <p:nvPr/>
        </p:nvGrpSpPr>
        <p:grpSpPr>
          <a:xfrm>
            <a:off x="6143483" y="8909199"/>
            <a:ext cx="7198335" cy="958701"/>
            <a:chOff x="0" y="0"/>
            <a:chExt cx="2305595" cy="406400"/>
          </a:xfrm>
        </p:grpSpPr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F15C342A-E114-9D85-59DE-83FCD5D2F5D5}"/>
                </a:ext>
              </a:extLst>
            </p:cNvPr>
            <p:cNvSpPr/>
            <p:nvPr/>
          </p:nvSpPr>
          <p:spPr>
            <a:xfrm>
              <a:off x="0" y="0"/>
              <a:ext cx="2305595" cy="406400"/>
            </a:xfrm>
            <a:custGeom>
              <a:avLst/>
              <a:gdLst/>
              <a:ahLst/>
              <a:cxnLst/>
              <a:rect l="l" t="t" r="r" b="b"/>
              <a:pathLst>
                <a:path w="2305595" h="406400">
                  <a:moveTo>
                    <a:pt x="2102395" y="0"/>
                  </a:moveTo>
                  <a:cubicBezTo>
                    <a:pt x="2214619" y="0"/>
                    <a:pt x="2305595" y="90976"/>
                    <a:pt x="2305595" y="203200"/>
                  </a:cubicBezTo>
                  <a:cubicBezTo>
                    <a:pt x="2305595" y="315424"/>
                    <a:pt x="2214619" y="406400"/>
                    <a:pt x="210239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0" name="TextBox 21">
              <a:extLst>
                <a:ext uri="{FF2B5EF4-FFF2-40B4-BE49-F238E27FC236}">
                  <a16:creationId xmlns:a16="http://schemas.microsoft.com/office/drawing/2014/main" id="{58D59A51-E5FA-3EB8-9828-5EBD244BFB79}"/>
                </a:ext>
              </a:extLst>
            </p:cNvPr>
            <p:cNvSpPr txBox="1"/>
            <p:nvPr/>
          </p:nvSpPr>
          <p:spPr>
            <a:xfrm>
              <a:off x="0" y="-57150"/>
              <a:ext cx="230559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1" name="TextBox 29">
            <a:extLst>
              <a:ext uri="{FF2B5EF4-FFF2-40B4-BE49-F238E27FC236}">
                <a16:creationId xmlns:a16="http://schemas.microsoft.com/office/drawing/2014/main" id="{F5CB7F68-CCE1-0477-327A-F758BD35F718}"/>
              </a:ext>
            </a:extLst>
          </p:cNvPr>
          <p:cNvSpPr txBox="1"/>
          <p:nvPr/>
        </p:nvSpPr>
        <p:spPr>
          <a:xfrm>
            <a:off x="6393908" y="9071702"/>
            <a:ext cx="6636292" cy="566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71"/>
              </a:lnSpc>
              <a:spcBef>
                <a:spcPct val="0"/>
              </a:spcBef>
            </a:pPr>
            <a:r>
              <a:rPr lang="en-US" sz="3408" b="1" dirty="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Seamless service integration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8" grpId="0"/>
      <p:bldP spid="29" grpId="0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7266644" y="7850165"/>
            <a:ext cx="1730858" cy="3513494"/>
          </a:xfrm>
          <a:custGeom>
            <a:avLst/>
            <a:gdLst/>
            <a:ahLst/>
            <a:cxnLst/>
            <a:rect l="l" t="t" r="r" b="b"/>
            <a:pathLst>
              <a:path w="1730858" h="3513494">
                <a:moveTo>
                  <a:pt x="1730858" y="0"/>
                </a:moveTo>
                <a:lnTo>
                  <a:pt x="0" y="0"/>
                </a:lnTo>
                <a:lnTo>
                  <a:pt x="0" y="3513494"/>
                </a:lnTo>
                <a:lnTo>
                  <a:pt x="1730858" y="3513494"/>
                </a:lnTo>
                <a:lnTo>
                  <a:pt x="173085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V="1">
            <a:off x="-279147" y="-1633942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71600" y="893377"/>
            <a:ext cx="5555993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Conclusion &amp;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6709" y="2002572"/>
            <a:ext cx="8420988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 b="1" dirty="0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Recommendations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6168303" y="-2760652"/>
            <a:ext cx="4438877" cy="4446962"/>
          </a:xfrm>
          <a:custGeom>
            <a:avLst/>
            <a:gdLst/>
            <a:ahLst/>
            <a:cxnLst/>
            <a:rect l="l" t="t" r="r" b="b"/>
            <a:pathLst>
              <a:path w="4438877" h="4446962">
                <a:moveTo>
                  <a:pt x="0" y="0"/>
                </a:moveTo>
                <a:lnTo>
                  <a:pt x="4438877" y="0"/>
                </a:lnTo>
                <a:lnTo>
                  <a:pt x="4438877" y="4446962"/>
                </a:lnTo>
                <a:lnTo>
                  <a:pt x="0" y="4446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64694" y="3692711"/>
            <a:ext cx="15932705" cy="3042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Summary: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Best model: Logistic Regression (80.6% accuracy, 84.2% ROC-AUC)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   Top churn drivers: Month-to-month contracts, short tenure, paperless billing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Recommendations:</a:t>
            </a:r>
          </a:p>
        </p:txBody>
      </p:sp>
      <p:sp>
        <p:nvSpPr>
          <p:cNvPr id="29" name="Freeform 29"/>
          <p:cNvSpPr/>
          <p:nvPr/>
        </p:nvSpPr>
        <p:spPr>
          <a:xfrm rot="-2454844">
            <a:off x="4962980" y="3357938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DBEBEDD-9CD2-217B-74B3-988B5EB64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47165"/>
              </p:ext>
            </p:extLst>
          </p:nvPr>
        </p:nvGraphicFramePr>
        <p:xfrm>
          <a:off x="3048000" y="7230160"/>
          <a:ext cx="12192000" cy="1828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0693657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603538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3723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625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Long-term contract incentives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Reduce churn 20–30%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90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First-year retention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Increase LTV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85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Improve digital 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Address paperless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54281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6F12C-F5B0-0AE1-F82E-0ECE5E5D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D837BF-3022-BBC4-F0F5-59AE86166091}"/>
              </a:ext>
            </a:extLst>
          </p:cNvPr>
          <p:cNvSpPr/>
          <p:nvPr/>
        </p:nvSpPr>
        <p:spPr>
          <a:xfrm rot="-1859737">
            <a:off x="3121357" y="4914121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1DEF3F-5810-EE97-838B-881B0BDA862A}"/>
              </a:ext>
            </a:extLst>
          </p:cNvPr>
          <p:cNvSpPr/>
          <p:nvPr/>
        </p:nvSpPr>
        <p:spPr>
          <a:xfrm rot="5400000" flipH="1">
            <a:off x="16439008" y="7391920"/>
            <a:ext cx="2220593" cy="4507614"/>
          </a:xfrm>
          <a:custGeom>
            <a:avLst/>
            <a:gdLst/>
            <a:ahLst/>
            <a:cxnLst/>
            <a:rect l="l" t="t" r="r" b="b"/>
            <a:pathLst>
              <a:path w="2220593" h="4507614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B136C51-EABD-E497-5172-F5E0BC338BA4}"/>
              </a:ext>
            </a:extLst>
          </p:cNvPr>
          <p:cNvSpPr/>
          <p:nvPr/>
        </p:nvSpPr>
        <p:spPr>
          <a:xfrm rot="5400000" flipV="1">
            <a:off x="-279147" y="-1633942"/>
            <a:ext cx="2490075" cy="5054639"/>
          </a:xfrm>
          <a:custGeom>
            <a:avLst/>
            <a:gdLst/>
            <a:ahLst/>
            <a:cxnLst/>
            <a:rect l="l" t="t" r="r" b="b"/>
            <a:pathLst>
              <a:path w="2490075" h="5054639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80CBB30-D34B-A0FB-60FB-86E083E70F69}"/>
              </a:ext>
            </a:extLst>
          </p:cNvPr>
          <p:cNvGrpSpPr/>
          <p:nvPr/>
        </p:nvGrpSpPr>
        <p:grpSpPr>
          <a:xfrm>
            <a:off x="-685800" y="9695831"/>
            <a:ext cx="4726694" cy="490540"/>
            <a:chOff x="0" y="0"/>
            <a:chExt cx="3915949" cy="40640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4D0E225B-0366-77C8-A9D6-74B900EBB6D9}"/>
                </a:ext>
              </a:extLst>
            </p:cNvPr>
            <p:cNvSpPr/>
            <p:nvPr/>
          </p:nvSpPr>
          <p:spPr>
            <a:xfrm>
              <a:off x="0" y="0"/>
              <a:ext cx="3915949" cy="406400"/>
            </a:xfrm>
            <a:custGeom>
              <a:avLst/>
              <a:gdLst/>
              <a:ahLst/>
              <a:cxnLst/>
              <a:rect l="l" t="t" r="r" b="b"/>
              <a:pathLst>
                <a:path w="3915949" h="406400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EAFCAA6-76BE-C58F-9169-88C0F1C962EF}"/>
                </a:ext>
              </a:extLst>
            </p:cNvPr>
            <p:cNvSpPr txBox="1"/>
            <p:nvPr/>
          </p:nvSpPr>
          <p:spPr>
            <a:xfrm>
              <a:off x="0" y="-57150"/>
              <a:ext cx="3915949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8" name="Freeform 48">
            <a:extLst>
              <a:ext uri="{FF2B5EF4-FFF2-40B4-BE49-F238E27FC236}">
                <a16:creationId xmlns:a16="http://schemas.microsoft.com/office/drawing/2014/main" id="{20903A38-B9DC-6476-9D7D-9D477B39001A}"/>
              </a:ext>
            </a:extLst>
          </p:cNvPr>
          <p:cNvSpPr/>
          <p:nvPr/>
        </p:nvSpPr>
        <p:spPr>
          <a:xfrm rot="-10800000">
            <a:off x="5504136" y="-4573010"/>
            <a:ext cx="6058172" cy="6069207"/>
          </a:xfrm>
          <a:custGeom>
            <a:avLst/>
            <a:gdLst/>
            <a:ahLst/>
            <a:cxnLst/>
            <a:rect l="l" t="t" r="r" b="b"/>
            <a:pathLst>
              <a:path w="6058172" h="6069207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6BA1ADC-3921-8A86-2708-8F684BA896D9}"/>
              </a:ext>
            </a:extLst>
          </p:cNvPr>
          <p:cNvSpPr txBox="1"/>
          <p:nvPr/>
        </p:nvSpPr>
        <p:spPr>
          <a:xfrm>
            <a:off x="2798899" y="1105522"/>
            <a:ext cx="13726974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89"/>
              </a:lnSpc>
            </a:pPr>
            <a:r>
              <a:rPr lang="en-US" sz="7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Interphases"/>
                <a:ea typeface="TT Interphases"/>
                <a:cs typeface="TT Interphases"/>
                <a:sym typeface="TT Interphases"/>
              </a:rPr>
              <a:t>References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60581FA-9570-D75F-DAC3-242B97EB81FF}"/>
              </a:ext>
            </a:extLst>
          </p:cNvPr>
          <p:cNvSpPr txBox="1"/>
          <p:nvPr/>
        </p:nvSpPr>
        <p:spPr>
          <a:xfrm>
            <a:off x="2016174" y="2707983"/>
            <a:ext cx="15304044" cy="65368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[1]	IBM. (2020). Telco Customer Churn Dataset. Kaggle. https://www.kaggle.com/datasets/blastchar/telco-customer-churn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[2]	Hastie, T., </a:t>
            </a:r>
            <a:r>
              <a:rPr lang="en-US" sz="2400" b="1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Tibshirani</a:t>
            </a: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R., &amp; Friedman, J. (2009). The elements of statistical learning.‏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[3]	Kuhn, M., &amp; Johnson, K. (2013). Applied predictive modeling (Vol. 26, p. 13). New York: Springer.‏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[4]	Pedregosa, F., </a:t>
            </a:r>
            <a:r>
              <a:rPr lang="en-US" sz="2400" b="1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Varoquaux</a:t>
            </a: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G., </a:t>
            </a:r>
            <a:r>
              <a:rPr lang="en-US" sz="2400" b="1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Gramfort</a:t>
            </a: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A., Michel, V., Thirion, B., Grisel, O., ... &amp; Duchesnay, É. (2011). Scikit-learn: Machine learning in Python. the Journal of machine Learning research, 12, 2825-2830.‏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[5]	Verhelst, T., Caelen, O., </a:t>
            </a:r>
            <a:r>
              <a:rPr lang="en-US" sz="2400" b="1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Dewitte</a:t>
            </a: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J. C., </a:t>
            </a:r>
            <a:r>
              <a:rPr lang="en-US" sz="2400" b="1" dirty="0" err="1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Lebichot</a:t>
            </a:r>
            <a:r>
              <a:rPr lang="en-US" sz="2400" b="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B., &amp; Bontempi, G. (2019, November). Understanding telecom customer churn with machine learning: from prediction to causal inference. In Benelux Conference on Artificial Intelligence (pp. 182-200). Cham: Springer International Publishing.‏</a:t>
            </a:r>
          </a:p>
        </p:txBody>
      </p:sp>
    </p:spTree>
    <p:extLst>
      <p:ext uri="{BB962C8B-B14F-4D97-AF65-F5344CB8AC3E}">
        <p14:creationId xmlns:p14="http://schemas.microsoft.com/office/powerpoint/2010/main" val="223571720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26617">
            <a:off x="3395976" y="3190853"/>
            <a:ext cx="20299771" cy="6754287"/>
          </a:xfrm>
          <a:custGeom>
            <a:avLst/>
            <a:gdLst/>
            <a:ahLst/>
            <a:cxnLst/>
            <a:rect l="l" t="t" r="r" b="b"/>
            <a:pathLst>
              <a:path w="20299771" h="6754287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41392" y="587451"/>
            <a:ext cx="9122342" cy="9105756"/>
          </a:xfrm>
          <a:custGeom>
            <a:avLst/>
            <a:gdLst/>
            <a:ahLst/>
            <a:cxnLst/>
            <a:rect l="l" t="t" r="r" b="b"/>
            <a:pathLst>
              <a:path w="9122342" h="9105756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157946">
            <a:off x="10971715" y="1704128"/>
            <a:ext cx="7674174" cy="2885362"/>
          </a:xfrm>
          <a:custGeom>
            <a:avLst/>
            <a:gdLst/>
            <a:ahLst/>
            <a:cxnLst/>
            <a:rect l="l" t="t" r="r" b="b"/>
            <a:pathLst>
              <a:path w="7674174" h="2885362">
                <a:moveTo>
                  <a:pt x="0" y="0"/>
                </a:moveTo>
                <a:lnTo>
                  <a:pt x="7674174" y="0"/>
                </a:lnTo>
                <a:lnTo>
                  <a:pt x="7674174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32984"/>
            </a:stretch>
          </a:blipFill>
        </p:spPr>
      </p:sp>
      <p:sp>
        <p:nvSpPr>
          <p:cNvPr id="5" name="Freeform 5"/>
          <p:cNvSpPr/>
          <p:nvPr/>
        </p:nvSpPr>
        <p:spPr>
          <a:xfrm rot="2157946" flipV="1">
            <a:off x="8438712" y="4719029"/>
            <a:ext cx="7674174" cy="3837087"/>
          </a:xfrm>
          <a:custGeom>
            <a:avLst/>
            <a:gdLst/>
            <a:ahLst/>
            <a:cxnLst/>
            <a:rect l="l" t="t" r="r" b="b"/>
            <a:pathLst>
              <a:path w="7674174" h="3837087">
                <a:moveTo>
                  <a:pt x="0" y="3837087"/>
                </a:moveTo>
                <a:lnTo>
                  <a:pt x="7674174" y="3837087"/>
                </a:lnTo>
                <a:lnTo>
                  <a:pt x="7674174" y="0"/>
                </a:lnTo>
                <a:lnTo>
                  <a:pt x="0" y="0"/>
                </a:lnTo>
                <a:lnTo>
                  <a:pt x="0" y="38370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75622" y="1713388"/>
            <a:ext cx="6853883" cy="68538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76794" y="1914560"/>
            <a:ext cx="6451538" cy="645153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0032" r="-39830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-458594" y="5993565"/>
            <a:ext cx="1519526" cy="3084508"/>
          </a:xfrm>
          <a:custGeom>
            <a:avLst/>
            <a:gdLst/>
            <a:ahLst/>
            <a:cxnLst/>
            <a:rect l="l" t="t" r="r" b="b"/>
            <a:pathLst>
              <a:path w="1519526" h="3084508">
                <a:moveTo>
                  <a:pt x="0" y="0"/>
                </a:moveTo>
                <a:lnTo>
                  <a:pt x="1519526" y="0"/>
                </a:lnTo>
                <a:lnTo>
                  <a:pt x="1519526" y="3084508"/>
                </a:lnTo>
                <a:lnTo>
                  <a:pt x="0" y="3084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16818832" y="0"/>
            <a:ext cx="2071591" cy="4205152"/>
          </a:xfrm>
          <a:custGeom>
            <a:avLst/>
            <a:gdLst/>
            <a:ahLst/>
            <a:cxnLst/>
            <a:rect l="l" t="t" r="r" b="b"/>
            <a:pathLst>
              <a:path w="2071591" h="4205152">
                <a:moveTo>
                  <a:pt x="2071591" y="0"/>
                </a:moveTo>
                <a:lnTo>
                  <a:pt x="0" y="0"/>
                </a:lnTo>
                <a:lnTo>
                  <a:pt x="0" y="4205152"/>
                </a:lnTo>
                <a:lnTo>
                  <a:pt x="2071591" y="4205152"/>
                </a:lnTo>
                <a:lnTo>
                  <a:pt x="207159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481992" y="-3498726"/>
            <a:ext cx="4793807" cy="4802539"/>
          </a:xfrm>
          <a:custGeom>
            <a:avLst/>
            <a:gdLst/>
            <a:ahLst/>
            <a:cxnLst/>
            <a:rect l="l" t="t" r="r" b="b"/>
            <a:pathLst>
              <a:path w="4793807" h="4802539">
                <a:moveTo>
                  <a:pt x="0" y="0"/>
                </a:moveTo>
                <a:lnTo>
                  <a:pt x="4793807" y="0"/>
                </a:lnTo>
                <a:lnTo>
                  <a:pt x="4793807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08917" y="8366098"/>
            <a:ext cx="4940090" cy="4949088"/>
          </a:xfrm>
          <a:custGeom>
            <a:avLst/>
            <a:gdLst/>
            <a:ahLst/>
            <a:cxnLst/>
            <a:rect l="l" t="t" r="r" b="b"/>
            <a:pathLst>
              <a:path w="4940090" h="4949088">
                <a:moveTo>
                  <a:pt x="0" y="0"/>
                </a:moveTo>
                <a:lnTo>
                  <a:pt x="4940090" y="0"/>
                </a:lnTo>
                <a:lnTo>
                  <a:pt x="4940090" y="4949088"/>
                </a:lnTo>
                <a:lnTo>
                  <a:pt x="0" y="4949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496449" y="2218183"/>
            <a:ext cx="1647551" cy="200702"/>
          </a:xfrm>
          <a:custGeom>
            <a:avLst/>
            <a:gdLst/>
            <a:ahLst/>
            <a:cxnLst/>
            <a:rect l="l" t="t" r="r" b="b"/>
            <a:pathLst>
              <a:path w="1647551" h="200702">
                <a:moveTo>
                  <a:pt x="0" y="0"/>
                </a:moveTo>
                <a:lnTo>
                  <a:pt x="1647551" y="0"/>
                </a:lnTo>
                <a:lnTo>
                  <a:pt x="1647551" y="200701"/>
                </a:lnTo>
                <a:lnTo>
                  <a:pt x="0" y="20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510649" y="8082370"/>
            <a:ext cx="666145" cy="660506"/>
          </a:xfrm>
          <a:custGeom>
            <a:avLst/>
            <a:gdLst/>
            <a:ahLst/>
            <a:cxnLst/>
            <a:rect l="l" t="t" r="r" b="b"/>
            <a:pathLst>
              <a:path w="666145" h="660506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106388" r="-103152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4854775" y="5926686"/>
            <a:ext cx="5254433" cy="641311"/>
            <a:chOff x="0" y="0"/>
            <a:chExt cx="3329743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29743" cy="406400"/>
            </a:xfrm>
            <a:custGeom>
              <a:avLst/>
              <a:gdLst/>
              <a:ahLst/>
              <a:cxnLst/>
              <a:rect l="l" t="t" r="r" b="b"/>
              <a:pathLst>
                <a:path w="3329743" h="406400">
                  <a:moveTo>
                    <a:pt x="3126543" y="0"/>
                  </a:moveTo>
                  <a:cubicBezTo>
                    <a:pt x="3238767" y="0"/>
                    <a:pt x="3329743" y="90976"/>
                    <a:pt x="3329743" y="203200"/>
                  </a:cubicBezTo>
                  <a:cubicBezTo>
                    <a:pt x="3329743" y="315424"/>
                    <a:pt x="3238767" y="406400"/>
                    <a:pt x="31265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32974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3528169"/>
            <a:ext cx="6228661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sz="15000" b="1">
                <a:solidFill>
                  <a:srgbClr val="A94BC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Thank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5171814"/>
            <a:ext cx="3429263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sz="15000" b="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You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54214" y="5921636"/>
            <a:ext cx="4455554" cy="58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sz="345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 Your Attention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28700" y="1053061"/>
            <a:ext cx="781082" cy="781082"/>
          </a:xfrm>
          <a:custGeom>
            <a:avLst/>
            <a:gdLst/>
            <a:ahLst/>
            <a:cxnLst/>
            <a:rect l="l" t="t" r="r" b="b"/>
            <a:pathLst>
              <a:path w="781082" h="781082">
                <a:moveTo>
                  <a:pt x="0" y="0"/>
                </a:moveTo>
                <a:lnTo>
                  <a:pt x="781082" y="0"/>
                </a:lnTo>
                <a:lnTo>
                  <a:pt x="781082" y="781082"/>
                </a:lnTo>
                <a:lnTo>
                  <a:pt x="0" y="78108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808</Words>
  <Application>Microsoft Office PowerPoint</Application>
  <PresentationFormat>Custom</PresentationFormat>
  <Paragraphs>196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TT Interphases Bold</vt:lpstr>
      <vt:lpstr>TT Interphases</vt:lpstr>
      <vt:lpstr>TT Interphases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Pink And Purple Modern Professional Artificial Intelligence Presentation</dc:title>
  <dc:creator>professional</dc:creator>
  <cp:lastModifiedBy>professional</cp:lastModifiedBy>
  <cp:revision>3</cp:revision>
  <dcterms:created xsi:type="dcterms:W3CDTF">2006-08-16T00:00:00Z</dcterms:created>
  <dcterms:modified xsi:type="dcterms:W3CDTF">2026-05-30T17:20:04Z</dcterms:modified>
  <dc:identifier>DAHLJiQgs5I</dc:identifier>
</cp:coreProperties>
</file>